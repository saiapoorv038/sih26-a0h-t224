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www.usenix.org/system/files/login/articles/03_meiklejohn-online.pdf" TargetMode="External"/><Relationship Id="rId7" Type="http://schemas.openxmlformats.org/officeDocument/2006/relationships/hyperlink" Target="https://arxiv.org/abs/2306.06108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s.stanford.edu/~jure/pubs/graphsage-nips17.pdf" TargetMode="External"/><Relationship Id="rId5" Type="http://schemas.openxmlformats.org/officeDocument/2006/relationships/hyperlink" Target="https://www.ijcai.org/proceedings/2020/0612.pdf" TargetMode="External"/><Relationship Id="rId4" Type="http://schemas.openxmlformats.org/officeDocument/2006/relationships/hyperlink" Target="https://sensorsportal.com/BAC_journal/Vol_03/Blockchain_and_Cryptocurrency_Vol_3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IN" sz="2400" dirty="0"/>
              <a:t>SIH26182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sz="2400" dirty="0"/>
              <a:t>Automated Attribution of Unknown Cryptocurrency Wallets to Nearest Virtual Asset Service Providers (VASPs) through Blockchain Intelligence APIs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sz="2400" dirty="0"/>
              <a:t>Blockchain &amp; Cybersecurity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r>
              <a:rPr lang="en-IN" sz="2400" b="1" dirty="0"/>
              <a:t>:</a:t>
            </a:r>
            <a:r>
              <a:rPr lang="en-IN" sz="2400" dirty="0"/>
              <a:t> [SIH - T224]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Name-[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gridx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98612" y="788894"/>
            <a:ext cx="11942089" cy="5750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Suspect Wallet Intake</a:t>
            </a:r>
            <a:r>
              <a:rPr lang="en-IN" dirty="0"/>
              <a:t> – Accepts a victim-reported </a:t>
            </a:r>
            <a:r>
              <a:rPr lang="en-IN" b="1" dirty="0"/>
              <a:t>cryptocurrency wallet address or transaction hash</a:t>
            </a:r>
            <a:r>
              <a:rPr lang="en-IN" dirty="0"/>
              <a:t> as the starting point of investigation.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Blockchain Data Collection</a:t>
            </a:r>
            <a:r>
              <a:rPr lang="en-IN" dirty="0"/>
              <a:t> – Collects transaction history, sender/receiver addresses, amounts, timestamps, assets and connected wallets through blockchain APIs/nodes.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Transaction Normalization &amp; Graph Creation</a:t>
            </a:r>
            <a:r>
              <a:rPr lang="en-IN" dirty="0"/>
              <a:t> – Converts blockchain data into a common format and represents </a:t>
            </a:r>
            <a:r>
              <a:rPr lang="en-IN" b="1" dirty="0"/>
              <a:t>wallets as nodes and transactions as edges</a:t>
            </a:r>
            <a:r>
              <a:rPr lang="en-IN" dirty="0"/>
              <a:t> for investigation.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Real-Time Multi-Hop Tracing </a:t>
            </a:r>
            <a:r>
              <a:rPr lang="en-IN" dirty="0"/>
              <a:t> – Automatically follows the movement of fraud-linked funds across multiple wallet hops to identify the observable fund-flow path.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Unknown Wallet Detection</a:t>
            </a:r>
            <a:r>
              <a:rPr lang="en-IN" dirty="0"/>
              <a:t> – Detects </a:t>
            </a:r>
            <a:r>
              <a:rPr lang="en-IN" dirty="0" err="1"/>
              <a:t>unlabeled</a:t>
            </a:r>
            <a:r>
              <a:rPr lang="en-IN" dirty="0"/>
              <a:t> or unidentified wallets encountered during tracing and forwards them for deeper entity analysis.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VASP Attribution – SIH26182</a:t>
            </a:r>
            <a:r>
              <a:rPr lang="en-IN" dirty="0"/>
              <a:t> – </a:t>
            </a:r>
            <a:r>
              <a:rPr lang="en-IN" dirty="0" err="1"/>
              <a:t>Analyzes</a:t>
            </a:r>
            <a:r>
              <a:rPr lang="en-IN" dirty="0"/>
              <a:t> unknown wallets using </a:t>
            </a:r>
            <a:r>
              <a:rPr lang="en-IN" b="1" dirty="0"/>
              <a:t>wallet </a:t>
            </a:r>
            <a:r>
              <a:rPr lang="en-IN" b="1" dirty="0" err="1"/>
              <a:t>behavior</a:t>
            </a:r>
            <a:r>
              <a:rPr lang="en-IN" b="1" dirty="0"/>
              <a:t>, transaction relationships, clustering and VASP fingerprints</a:t>
            </a:r>
            <a:r>
              <a:rPr lang="en-IN" dirty="0"/>
              <a:t> to identify likely service providers.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Graph-Based AI Analysis</a:t>
            </a:r>
            <a:r>
              <a:rPr lang="en-IN" dirty="0"/>
              <a:t> – Uses </a:t>
            </a:r>
            <a:r>
              <a:rPr lang="en-IN" b="1" dirty="0" err="1"/>
              <a:t>GraphSAGE</a:t>
            </a:r>
            <a:r>
              <a:rPr lang="en-IN" b="1" dirty="0"/>
              <a:t> / graph analysis</a:t>
            </a:r>
            <a:r>
              <a:rPr lang="en-IN" dirty="0"/>
              <a:t> to study the wallet and its surrounding transaction network and rank possible VASP associations.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Risk &amp; Confidence Scoring</a:t>
            </a:r>
            <a:r>
              <a:rPr lang="en-IN" dirty="0"/>
              <a:t> – Produces a </a:t>
            </a:r>
            <a:r>
              <a:rPr lang="en-IN" b="1" dirty="0"/>
              <a:t>fraud-risk score</a:t>
            </a:r>
            <a:r>
              <a:rPr lang="en-IN" dirty="0"/>
              <a:t> and a </a:t>
            </a:r>
            <a:r>
              <a:rPr lang="en-IN" b="1" dirty="0"/>
              <a:t>confidence-ranked VASP result</a:t>
            </a:r>
            <a:r>
              <a:rPr lang="en-IN" dirty="0"/>
              <a:t>, clearly distinguishing probable attribution from confirmed identification.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Evidence-Based LEA Reporting</a:t>
            </a:r>
            <a:r>
              <a:rPr lang="en-IN" dirty="0"/>
              <a:t> – Combines transaction paths, wallet relationships, attribution signals, timestamps, risk and confidence into a </a:t>
            </a:r>
            <a:r>
              <a:rPr lang="en-IN" b="1" dirty="0"/>
              <a:t>visual investigation graph and LEA-ready report</a:t>
            </a:r>
            <a:r>
              <a:rPr lang="en-IN" sz="1400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66142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Gridx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193" y="1140445"/>
            <a:ext cx="11360034" cy="5570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IN" sz="16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Frontend:</a:t>
            </a:r>
            <a:r>
              <a:rPr lang="en-IN" sz="1600" dirty="0"/>
              <a:t> React – investigator dashboard and visualization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Backend:</a:t>
            </a:r>
            <a:r>
              <a:rPr lang="en-IN" sz="1600" dirty="0"/>
              <a:t> </a:t>
            </a:r>
            <a:r>
              <a:rPr lang="en-IN" sz="1600" dirty="0" err="1"/>
              <a:t>FastAPI</a:t>
            </a:r>
            <a:r>
              <a:rPr lang="en-IN" sz="1600" dirty="0"/>
              <a:t> – asynchronous API and investigation services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Programming/Analytics:</a:t>
            </a:r>
            <a:r>
              <a:rPr lang="en-IN" sz="1600" dirty="0"/>
              <a:t> Python – blockchain analytics, feature processing and AI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Blockchain Data:</a:t>
            </a:r>
            <a:r>
              <a:rPr lang="en-IN" sz="1600" dirty="0"/>
              <a:t> Bitcoin Core, </a:t>
            </a:r>
            <a:r>
              <a:rPr lang="en-IN" sz="1600" dirty="0" err="1"/>
              <a:t>Etherscan</a:t>
            </a:r>
            <a:r>
              <a:rPr lang="en-IN" sz="1600" dirty="0"/>
              <a:t>, </a:t>
            </a:r>
            <a:r>
              <a:rPr lang="en-IN" sz="1600" dirty="0" err="1"/>
              <a:t>TronGrid</a:t>
            </a:r>
            <a:r>
              <a:rPr lang="en-IN" sz="1600" dirty="0"/>
              <a:t> – BTC, ETH and USDT-TRC20 data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Graph Database:</a:t>
            </a:r>
            <a:r>
              <a:rPr lang="en-IN" sz="1600" dirty="0"/>
              <a:t> Neo4j – wallets as nodes and transactions as edges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Case Database:</a:t>
            </a:r>
            <a:r>
              <a:rPr lang="en-IN" sz="1600" dirty="0"/>
              <a:t> PostgreSQL – case metadata, evidence and investigation records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AI/Graph ML:</a:t>
            </a:r>
            <a:r>
              <a:rPr lang="en-IN" sz="1600" dirty="0"/>
              <a:t> </a:t>
            </a:r>
            <a:r>
              <a:rPr lang="en-IN" sz="1600" dirty="0" err="1"/>
              <a:t>GraphSAGE</a:t>
            </a:r>
            <a:r>
              <a:rPr lang="en-IN" sz="1600" dirty="0"/>
              <a:t> – wallet/VASP attribution and graph-based scoring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Visualization:</a:t>
            </a:r>
            <a:r>
              <a:rPr lang="en-IN" sz="1600" dirty="0"/>
              <a:t> Interactive transaction and fund-flow graphs for investigators </a:t>
            </a:r>
          </a:p>
          <a:p>
            <a:pPr lvl="0"/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Methodology and process for implementation: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1. Input &amp; Validation</a:t>
            </a:r>
            <a:r>
              <a:rPr lang="en-IN" sz="1600" dirty="0"/>
              <a:t> – Receive suspect wallet address/transaction hash and validate the blockchain/network.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2. Data Ingestion</a:t>
            </a:r>
            <a:r>
              <a:rPr lang="en-IN" sz="1600" dirty="0"/>
              <a:t> – Collect transaction, address, asset, amount, timestamp and block information from blockchain APIs/nodes.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3. Data Normalization</a:t>
            </a:r>
            <a:r>
              <a:rPr lang="en-IN" sz="1600" dirty="0"/>
              <a:t> – Convert multi-chain data into a common structured transaction format.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4. Graph Construction</a:t>
            </a:r>
            <a:r>
              <a:rPr lang="en-IN" sz="1600" dirty="0"/>
              <a:t> – Store </a:t>
            </a:r>
            <a:r>
              <a:rPr lang="en-IN" sz="1600" b="1" dirty="0"/>
              <a:t>wallets as nodes</a:t>
            </a:r>
            <a:r>
              <a:rPr lang="en-IN" sz="1600" dirty="0"/>
              <a:t> and </a:t>
            </a:r>
            <a:r>
              <a:rPr lang="en-IN" sz="1600" b="1" dirty="0"/>
              <a:t>transactions as directed edges</a:t>
            </a:r>
            <a:r>
              <a:rPr lang="en-IN" sz="1600" dirty="0"/>
              <a:t> in Neo4j.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5. SIH26183 – Fund Tracing</a:t>
            </a:r>
            <a:r>
              <a:rPr lang="en-IN" sz="1600" dirty="0"/>
              <a:t> – Perform multi-hop tracing to follow suspicious fund movement from the reported wallet.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6. SIH26182 – VASP Attribution</a:t>
            </a:r>
            <a:r>
              <a:rPr lang="en-IN" sz="1600" dirty="0"/>
              <a:t> – For an unknown wallet, extract </a:t>
            </a:r>
            <a:r>
              <a:rPr lang="en-IN" sz="1600" dirty="0" err="1"/>
              <a:t>behavioral</a:t>
            </a:r>
            <a:r>
              <a:rPr lang="en-IN" sz="1600" dirty="0"/>
              <a:t> features, identify clusters and compare VASP fingerprints.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7. Graph AI &amp; Scoring</a:t>
            </a:r>
            <a:r>
              <a:rPr lang="en-IN" sz="1600" dirty="0"/>
              <a:t> – Apply </a:t>
            </a:r>
            <a:r>
              <a:rPr lang="en-IN" sz="1600" dirty="0" err="1"/>
              <a:t>GraphSAGE</a:t>
            </a:r>
            <a:r>
              <a:rPr lang="en-IN" sz="1600" dirty="0"/>
              <a:t>/graph analysis to rank likely VASPs and generate an attribution confidence score.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8. Risk, Evidence &amp; Report</a:t>
            </a:r>
            <a:r>
              <a:rPr lang="en-IN" sz="1600" dirty="0"/>
              <a:t> – Generate fraud-risk indicators, preserve transaction evidence, visualize the fund flow and produce the LEA case report.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Gridx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308CFC-7C41-9F97-2CA2-1FDBE71634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7459" y="1130167"/>
            <a:ext cx="2913528" cy="2795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1359451"/>
            <a:ext cx="11171945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Analysis of the feasibility of the idea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b="1" dirty="0"/>
              <a:t>public blockchain data, APIs and open-source technologies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Software-based solution with </a:t>
            </a:r>
            <a:r>
              <a:rPr lang="en-IN" b="1" dirty="0"/>
              <a:t>no special hardware requirement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Initial implementation supports </a:t>
            </a:r>
            <a:r>
              <a:rPr lang="en-IN" b="1" dirty="0"/>
              <a:t>Bitcoin, Ethereum and USDT-TRC20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Uses scalable </a:t>
            </a:r>
            <a:r>
              <a:rPr lang="en-IN" b="1" dirty="0"/>
              <a:t>graph and database architecture</a:t>
            </a:r>
            <a:r>
              <a:rPr lang="en-IN" dirty="0"/>
              <a:t> for blockchain investigation.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Modular design allows future support for additional blockchains and VASPs.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Potential challenges and risks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Bridges and privacy-focused systems</a:t>
            </a:r>
            <a:r>
              <a:rPr lang="en-IN" dirty="0"/>
              <a:t> may interrupt fund tracing.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New/offshore VASPs</a:t>
            </a:r>
            <a:r>
              <a:rPr lang="en-IN" dirty="0"/>
              <a:t> may have limited public information.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High transaction volume can increase processing time.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VASP wallet addresses and </a:t>
            </a:r>
            <a:r>
              <a:rPr lang="en-IN" dirty="0" err="1"/>
              <a:t>behavioral</a:t>
            </a:r>
            <a:r>
              <a:rPr lang="en-IN" dirty="0"/>
              <a:t> patterns can change.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AI-based attribution may produce false or uncertain matches.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Strategies for overcoming these challenges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Return the </a:t>
            </a:r>
            <a:r>
              <a:rPr lang="en-IN" b="1" dirty="0"/>
              <a:t>strongest observable path</a:t>
            </a:r>
            <a:r>
              <a:rPr lang="en-IN" dirty="0"/>
              <a:t> when tracing is incomplete.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Use </a:t>
            </a:r>
            <a:r>
              <a:rPr lang="en-IN" b="1" dirty="0"/>
              <a:t>confidence-ranked VASP attribution</a:t>
            </a:r>
            <a:r>
              <a:rPr lang="en-IN" dirty="0"/>
              <a:t> instead of absolute identification.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Apply </a:t>
            </a:r>
            <a:r>
              <a:rPr lang="en-IN" b="1" dirty="0"/>
              <a:t>hop limits, targeted traversal and caching</a:t>
            </a:r>
            <a:r>
              <a:rPr lang="en-IN" dirty="0"/>
              <a:t> for large transaction volumes.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Maintain a </a:t>
            </a:r>
            <a:r>
              <a:rPr lang="en-IN" b="1" dirty="0"/>
              <a:t>living VASP fingerprint database</a:t>
            </a:r>
            <a:r>
              <a:rPr lang="en-IN" dirty="0"/>
              <a:t> with updated information.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Treat AI results as </a:t>
            </a:r>
            <a:r>
              <a:rPr lang="en-IN" b="1" dirty="0"/>
              <a:t>decision support, not legal proof</a:t>
            </a:r>
            <a:r>
              <a:rPr lang="en-IN" dirty="0"/>
              <a:t>. 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gridx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84094" y="1693925"/>
            <a:ext cx="93853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b="1" dirty="0"/>
              <a:t>IMPACT AND BENEFITS</a:t>
            </a:r>
          </a:p>
          <a:p>
            <a:endParaRPr lang="en-IN" b="1" dirty="0"/>
          </a:p>
          <a:p>
            <a:pPr lvl="0"/>
            <a:r>
              <a:rPr lang="en-IN" dirty="0"/>
              <a:t>Enables </a:t>
            </a:r>
            <a:r>
              <a:rPr lang="en-IN" b="1" dirty="0"/>
              <a:t>cybercrime investigators and LEAs</a:t>
            </a:r>
            <a:r>
              <a:rPr lang="en-IN" dirty="0"/>
              <a:t> to </a:t>
            </a:r>
            <a:r>
              <a:rPr lang="en-IN" dirty="0" err="1"/>
              <a:t>analyze</a:t>
            </a:r>
            <a:r>
              <a:rPr lang="en-IN" dirty="0"/>
              <a:t> cryptocurrency fraud cases faster. </a:t>
            </a:r>
          </a:p>
          <a:p>
            <a:pPr lvl="0"/>
            <a:r>
              <a:rPr lang="en-IN" dirty="0"/>
              <a:t>Reduces manual wallet-to-wallet tracing and repetitive blockchain analysis. </a:t>
            </a:r>
          </a:p>
          <a:p>
            <a:pPr lvl="0"/>
            <a:r>
              <a:rPr lang="en-IN" dirty="0"/>
              <a:t>Helps identify </a:t>
            </a:r>
            <a:r>
              <a:rPr lang="en-IN" b="1" dirty="0"/>
              <a:t>suspicious fund-flow paths and likely VASP destinations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Supports faster preparation of investigation evidence and case reports. </a:t>
            </a:r>
          </a:p>
          <a:p>
            <a:pPr lvl="0"/>
            <a:r>
              <a:rPr lang="en-IN" dirty="0"/>
              <a:t>Provides a </a:t>
            </a:r>
            <a:r>
              <a:rPr lang="en-IN" b="1" dirty="0"/>
              <a:t>standardized and scalable workflow</a:t>
            </a:r>
            <a:r>
              <a:rPr lang="en-IN" dirty="0"/>
              <a:t> for digital-financial investigations. </a:t>
            </a:r>
          </a:p>
          <a:p>
            <a:r>
              <a:rPr lang="en-IN" b="1" dirty="0"/>
              <a:t>Benefits of the solution</a:t>
            </a:r>
          </a:p>
          <a:p>
            <a:pPr lvl="0"/>
            <a:r>
              <a:rPr lang="en-IN" b="1" dirty="0"/>
              <a:t>Social:</a:t>
            </a:r>
            <a:r>
              <a:rPr lang="en-IN" dirty="0"/>
              <a:t> Supports faster response to cryptocurrency fraud and strengthens digital- forensics capabilities. </a:t>
            </a:r>
          </a:p>
          <a:p>
            <a:pPr lvl="0"/>
            <a:r>
              <a:rPr lang="en-IN" b="1" dirty="0"/>
              <a:t>Economic:</a:t>
            </a:r>
            <a:r>
              <a:rPr lang="en-IN" dirty="0"/>
              <a:t> Reduces investigation effort and can improve the opportunity for timely intervention before funds move further. </a:t>
            </a:r>
          </a:p>
          <a:p>
            <a:pPr lvl="0"/>
            <a:r>
              <a:rPr lang="en-IN" b="1" dirty="0"/>
              <a:t>Operational:</a:t>
            </a:r>
            <a:r>
              <a:rPr lang="en-IN" dirty="0"/>
              <a:t> Combines </a:t>
            </a:r>
            <a:r>
              <a:rPr lang="en-IN" b="1" dirty="0"/>
              <a:t>tracing, VASP attribution, risk scoring and evidence</a:t>
            </a:r>
            <a:r>
              <a:rPr lang="en-IN" dirty="0"/>
              <a:t> in one platform. </a:t>
            </a:r>
          </a:p>
          <a:p>
            <a:pPr lvl="0"/>
            <a:r>
              <a:rPr lang="en-IN" b="1" dirty="0"/>
              <a:t>Technical:</a:t>
            </a:r>
            <a:r>
              <a:rPr lang="en-IN" dirty="0"/>
              <a:t> Provides multi-hop transaction visualization and confidence-ranked VASP attribution. </a:t>
            </a:r>
          </a:p>
          <a:p>
            <a:pPr lvl="0"/>
            <a:r>
              <a:rPr lang="en-IN" b="1" dirty="0"/>
              <a:t>Scalable:</a:t>
            </a:r>
            <a:r>
              <a:rPr lang="en-IN" dirty="0"/>
              <a:t> Can be extended to additional blockchains, VASPs and investigation cases. 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gridx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62065" y="948690"/>
            <a:ext cx="11590664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Meiklejohn et al. (2013) – A Fistful of Bitcoins</a:t>
            </a:r>
          </a:p>
          <a:p>
            <a:r>
              <a:rPr lang="en-IN" sz="1600" dirty="0"/>
              <a:t>     (</a:t>
            </a:r>
            <a:r>
              <a:rPr lang="en-IN" sz="1600" dirty="0">
                <a:hlinkClick r:id="rId3"/>
              </a:rPr>
              <a:t>https://www.usenix.org/system/files/login/articles/03_meiklejohn-online.pdf</a:t>
            </a:r>
            <a:r>
              <a:rPr lang="en-IN" sz="1600" dirty="0"/>
              <a:t>) </a:t>
            </a:r>
            <a:br>
              <a:rPr lang="en-IN" sz="1600" dirty="0"/>
            </a:br>
            <a:r>
              <a:rPr lang="en-IN" sz="1600" dirty="0"/>
              <a:t>     </a:t>
            </a:r>
            <a:r>
              <a:rPr lang="en-IN" sz="1600" b="1" dirty="0"/>
              <a:t>We take wallet/address clustering concepts and transaction-based entity identification for grouping related Bitcoin</a:t>
            </a:r>
          </a:p>
          <a:p>
            <a:r>
              <a:rPr lang="en-IN" sz="1600" b="1" dirty="0"/>
              <a:t>     addresses.</a:t>
            </a:r>
            <a:r>
              <a:rPr lang="en-IN" sz="16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 err="1"/>
              <a:t>Möser</a:t>
            </a:r>
            <a:r>
              <a:rPr lang="en-IN" sz="1600" b="1" dirty="0"/>
              <a:t>, Böhme &amp; Breuker (2013) – An Inquiry into Money Laundering Tools in the Bitcoin Ecosystem</a:t>
            </a:r>
          </a:p>
          <a:p>
            <a:pPr lvl="0"/>
            <a:r>
              <a:rPr lang="en-IN" sz="1600" dirty="0"/>
              <a:t>      (</a:t>
            </a:r>
            <a:r>
              <a:rPr lang="en-IN" sz="1600" dirty="0">
                <a:hlinkClick r:id="rId3"/>
              </a:rPr>
              <a:t>https://www.usenix.org/system/files/login/articles/03_meiklejohn-online.pdf</a:t>
            </a:r>
            <a:r>
              <a:rPr lang="en-IN" sz="1600" dirty="0"/>
              <a:t>) </a:t>
            </a:r>
          </a:p>
          <a:p>
            <a:pPr lvl="0"/>
            <a:r>
              <a:rPr lang="en-IN" sz="1600" b="1" dirty="0"/>
              <a:t>      We take transaction-graph analysis and awareness of mixing/anonymization </a:t>
            </a:r>
            <a:r>
              <a:rPr lang="en-IN" sz="1600" b="1" dirty="0" err="1"/>
              <a:t>behavior</a:t>
            </a:r>
            <a:r>
              <a:rPr lang="en-IN" sz="1600" b="1" dirty="0"/>
              <a:t> for tracing and risk analysis.</a:t>
            </a:r>
            <a:r>
              <a:rPr lang="en-IN" sz="16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Weber et al. (2019) – Anti-Money Laundering in Bitcoin</a:t>
            </a:r>
          </a:p>
          <a:p>
            <a:pPr lvl="0"/>
            <a:r>
              <a:rPr lang="en-IN" sz="1600" dirty="0"/>
              <a:t>      (</a:t>
            </a:r>
            <a:r>
              <a:rPr lang="en-IN" sz="1600" dirty="0">
                <a:hlinkClick r:id="rId4"/>
              </a:rPr>
              <a:t>https://sensorsportal.com/BAC_journal/Vol_03/Blockchain_and_Cryptocurrency_Vol_3.pdf</a:t>
            </a:r>
            <a:r>
              <a:rPr lang="en-IN" sz="1600" dirty="0"/>
              <a:t>)  </a:t>
            </a:r>
            <a:br>
              <a:rPr lang="en-IN" sz="1600" dirty="0"/>
            </a:br>
            <a:r>
              <a:rPr lang="en-IN" sz="1600" dirty="0"/>
              <a:t>     </a:t>
            </a:r>
            <a:r>
              <a:rPr lang="en-IN" sz="1600" b="1" dirty="0"/>
              <a:t>We take graph-based machine-learning concepts for detecting suspicious and illicit cryptocurrency transaction patterns.</a:t>
            </a:r>
            <a:r>
              <a:rPr lang="en-IN" sz="16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 err="1"/>
              <a:t>Akcoraetal</a:t>
            </a:r>
            <a:r>
              <a:rPr lang="en-IN" sz="1600" b="1" dirty="0"/>
              <a:t>. (2020) – </a:t>
            </a:r>
            <a:r>
              <a:rPr lang="en-IN" sz="1600" b="1" dirty="0" err="1"/>
              <a:t>BitcoinHeist</a:t>
            </a:r>
            <a:endParaRPr lang="en-IN" sz="1600" b="1" dirty="0"/>
          </a:p>
          <a:p>
            <a:pPr lvl="0"/>
            <a:r>
              <a:rPr lang="en-IN" sz="1600" dirty="0"/>
              <a:t>     (</a:t>
            </a:r>
            <a:r>
              <a:rPr lang="en-IN" sz="1600" dirty="0">
                <a:hlinkClick r:id="rId5"/>
              </a:rPr>
              <a:t>https://www.ijcai.org/proceedings/2020/0612.pdf</a:t>
            </a:r>
            <a:r>
              <a:rPr lang="en-IN" sz="1600" dirty="0"/>
              <a:t>)  </a:t>
            </a:r>
            <a:br>
              <a:rPr lang="en-IN" sz="1600" dirty="0"/>
            </a:br>
            <a:r>
              <a:rPr lang="en-IN" sz="1600" dirty="0"/>
              <a:t>      </a:t>
            </a:r>
            <a:r>
              <a:rPr lang="en-IN" sz="1600" b="1" dirty="0"/>
              <a:t>We take graph/topological analysis techniques for identifying abnormal and malicious patterns in blockchain  </a:t>
            </a:r>
          </a:p>
          <a:p>
            <a:pPr lvl="0"/>
            <a:r>
              <a:rPr lang="en-IN" sz="1600" b="1" dirty="0"/>
              <a:t>      transactions.</a:t>
            </a:r>
            <a:r>
              <a:rPr lang="en-IN" sz="16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Hamilton, Ying &amp; Leskovec (2017) – </a:t>
            </a:r>
            <a:r>
              <a:rPr lang="en-IN" sz="1600" b="1" dirty="0" err="1"/>
              <a:t>GraphSAGE</a:t>
            </a:r>
            <a:endParaRPr lang="en-IN" sz="16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(</a:t>
            </a:r>
            <a:r>
              <a:rPr lang="en-IN" sz="1600" dirty="0">
                <a:hlinkClick r:id="rId6"/>
              </a:rPr>
              <a:t>https://cs.stanford.edu/~jure/pubs/graphsage-nips17.pdf</a:t>
            </a:r>
            <a:r>
              <a:rPr lang="en-IN" sz="1600" dirty="0"/>
              <a:t>) </a:t>
            </a:r>
            <a:br>
              <a:rPr lang="en-IN" sz="1600" dirty="0"/>
            </a:br>
            <a:r>
              <a:rPr lang="en-IN" sz="1600" b="1" dirty="0"/>
              <a:t>We take the </a:t>
            </a:r>
            <a:r>
              <a:rPr lang="en-IN" sz="1600" b="1" dirty="0" err="1"/>
              <a:t>GraphSAGE</a:t>
            </a:r>
            <a:r>
              <a:rPr lang="en-IN" sz="1600" b="1" dirty="0"/>
              <a:t> graph-learning approach to </a:t>
            </a:r>
            <a:r>
              <a:rPr lang="en-IN" sz="1600" b="1" dirty="0" err="1"/>
              <a:t>analyze</a:t>
            </a:r>
            <a:r>
              <a:rPr lang="en-IN" sz="1600" b="1" dirty="0"/>
              <a:t> a wallet together with its </a:t>
            </a:r>
            <a:r>
              <a:rPr lang="en-IN" sz="1600" b="1" dirty="0" err="1"/>
              <a:t>neighboring</a:t>
            </a:r>
            <a:r>
              <a:rPr lang="en-IN" sz="1600" b="1" dirty="0"/>
              <a:t> transaction network for VASP attribution.</a:t>
            </a:r>
            <a:r>
              <a:rPr lang="en-IN" sz="16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 err="1"/>
              <a:t>Elmougy</a:t>
            </a:r>
            <a:r>
              <a:rPr lang="en-IN" sz="1600" b="1" dirty="0"/>
              <a:t> &amp; Liu (2023) – Demystifying Fraudulent Transactions and Illicit Nodes in the Bitcoin Network</a:t>
            </a:r>
          </a:p>
          <a:p>
            <a:pPr lvl="0"/>
            <a:r>
              <a:rPr lang="en-IN" sz="1600" dirty="0"/>
              <a:t>      (</a:t>
            </a:r>
            <a:r>
              <a:rPr lang="en-IN" sz="1600" dirty="0">
                <a:hlinkClick r:id="rId7"/>
              </a:rPr>
              <a:t>https://arxiv.org/abs/2306.06108</a:t>
            </a:r>
            <a:r>
              <a:rPr lang="en-IN" sz="1600" dirty="0"/>
              <a:t>) </a:t>
            </a:r>
            <a:br>
              <a:rPr lang="en-IN" sz="1600" dirty="0"/>
            </a:br>
            <a:r>
              <a:rPr lang="en-IN" sz="1600" dirty="0"/>
              <a:t>      </a:t>
            </a:r>
            <a:r>
              <a:rPr lang="en-IN" sz="1600" b="1" dirty="0"/>
              <a:t>We take graph-based methods for identifying suspicious transactions and illicit wallet nodes for financial-forensics analysis.</a:t>
            </a:r>
            <a:endParaRPr lang="en-IN" sz="1600" dirty="0"/>
          </a:p>
          <a:p>
            <a:pPr lvl="0" algn="just"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67020" y="71428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gridx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7740</TotalTime>
  <Words>1195</Words>
  <Application>Microsoft Office PowerPoint</Application>
  <PresentationFormat>Widescreen</PresentationFormat>
  <Paragraphs>110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Priya Gowd</cp:lastModifiedBy>
  <cp:revision>155</cp:revision>
  <dcterms:created xsi:type="dcterms:W3CDTF">2013-12-12T18:46:50Z</dcterms:created>
  <dcterms:modified xsi:type="dcterms:W3CDTF">2026-09-14T17:46:10Z</dcterms:modified>
  <cp:category/>
</cp:coreProperties>
</file>