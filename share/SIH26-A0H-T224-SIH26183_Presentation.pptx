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00219-FCC3-639A-C991-789DF6862CB6}" v="130" dt="2026-08-30T12:38:06.689"/>
    <p1510:client id="{F5893D04-19A5-4B7E-9EDE-14DB223DA91F}" v="1" dt="2026-08-30T12:39:55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74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TraceChain</a:t>
            </a:r>
            <a:endParaRPr lang="en-IN" b="1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4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SIH26183</a:t>
            </a:r>
          </a:p>
          <a:p>
            <a:pPr marL="285750" indent="-285750" algn="just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0" algn="just">
              <a:lnSpc>
                <a:spcPct val="112000"/>
              </a:lnSpc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Real-Time Identification of Fraud-Linked Cryptocurrency Exchanges from Victim-Reported Suspect Wallet Addresses through Automated Blockchain Analytics</a:t>
            </a:r>
          </a:p>
          <a:p>
            <a:pPr marL="285750" indent="-285750" algn="just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</a:p>
          <a:p>
            <a:pPr marL="285750" indent="-285750" algn="just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1900" i="1" dirty="0">
                <a:latin typeface="Arial" panose="020B0604020202020204" pitchFamily="34" charset="0"/>
                <a:cs typeface="Arial" panose="020B0604020202020204" pitchFamily="34" charset="0"/>
              </a:rPr>
              <a:t>[SIH- T224]</a:t>
            </a:r>
          </a:p>
          <a:p>
            <a:pPr marL="285750" indent="-285750" algn="just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900" b="1" i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9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gridx</a:t>
            </a:r>
            <a:r>
              <a:rPr lang="en-US" sz="1900" b="1" i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652398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073278"/>
            <a:ext cx="12191999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2400" b="1" u="sng" err="1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TraceChain</a:t>
            </a:r>
            <a:r>
              <a:rPr lang="en-US" sz="2400" b="1" u="sng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 — Real-Time Blockchain Intelligence for Cryptocurrency Fraud Detection &amp; Exchange Attribution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u="sng">
                <a:solidFill>
                  <a:schemeClr val="tx2"/>
                </a:solidFill>
                <a:latin typeface="Times New Roman"/>
                <a:cs typeface="Times New Roman"/>
              </a:rPr>
              <a:t>Detailed explanation of the proposed solution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Victim / NCRP submits one suspect wallet address — no manual investigator setup needed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 err="1">
                <a:latin typeface="Times New Roman"/>
                <a:ea typeface="ＭＳ Ｐゴシック"/>
                <a:cs typeface="Times New Roman"/>
              </a:rPr>
              <a:t>TraceChain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 traces funds hop-by-hop across chains and through observable mixers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Exchange Attribution Engine scores unlabeled wallets against known VASP fingerprints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Generates an evidence-backed LEA report with risk score and likely exchange lead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u="sng">
                <a:solidFill>
                  <a:schemeClr val="tx2"/>
                </a:solidFill>
                <a:latin typeface="Times New Roman"/>
                <a:cs typeface="Times New Roman"/>
              </a:rPr>
              <a:t>How it addresses the problem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Automates a currently manual, slow wallet-tracing and exchange-identification process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Fuses tracing and attribution into one pipeline — results targeted within minutes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Confidence-ranked VASP match instead of a simple yes/no result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u="sng">
                <a:solidFill>
                  <a:schemeClr val="tx2"/>
                </a:solidFill>
                <a:latin typeface="Times New Roman"/>
                <a:cs typeface="Times New Roman"/>
              </a:rPr>
              <a:t>Innovation and uniqueness of the solution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No separate manual attribution step after tracing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Clustering and peel-chain heuristics reduce reliance on static exchange-address lists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Self-improving: confirmed cases feed back into the fingerprint database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6109"/>
            <a:ext cx="1251857" cy="83865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[</a:t>
            </a:r>
            <a:r>
              <a:rPr lang="en-US" err="1"/>
              <a:t>gridx</a:t>
            </a:r>
            <a:r>
              <a:rPr lang="en-US"/>
              <a:t>]</a:t>
            </a:r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512" name="FlowCaption"/>
          <p:cNvSpPr txBox="1"/>
          <p:nvPr/>
        </p:nvSpPr>
        <p:spPr>
          <a:xfrm>
            <a:off x="1750000" y="820000"/>
            <a:ext cx="9950000" cy="33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400" b="1" i="1" dirty="0">
                <a:solidFill>
                  <a:srgbClr val="1F497D"/>
                </a:solidFill>
                <a:latin typeface="Arial" pitchFamily="34" charset="0"/>
                <a:cs typeface="Arial" pitchFamily="34" charset="0"/>
              </a:rPr>
              <a:t>TraceChain processing pipeline</a:t>
            </a:r>
          </a:p>
        </p:txBody>
      </p:sp>
      <p:sp>
        <p:nvSpPr>
          <p:cNvPr id="501" name="FlowBox 1"/>
          <p:cNvSpPr/>
          <p:nvPr/>
        </p:nvSpPr>
        <p:spPr>
          <a:xfrm>
            <a:off x="500000" y="1150000"/>
            <a:ext cx="1550000" cy="820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Report</a:t>
            </a:r>
          </a:p>
        </p:txBody>
      </p:sp>
      <p:sp>
        <p:nvSpPr>
          <p:cNvPr id="502" name="FlowArrow 1"/>
          <p:cNvSpPr/>
          <p:nvPr/>
        </p:nvSpPr>
        <p:spPr>
          <a:xfrm>
            <a:off x="2080000" y="1470000"/>
            <a:ext cx="320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FlowBox 2"/>
          <p:cNvSpPr/>
          <p:nvPr/>
        </p:nvSpPr>
        <p:spPr>
          <a:xfrm>
            <a:off x="2430000" y="1150000"/>
            <a:ext cx="1550000" cy="820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Validate</a:t>
            </a:r>
          </a:p>
        </p:txBody>
      </p:sp>
      <p:sp>
        <p:nvSpPr>
          <p:cNvPr id="504" name="FlowArrow 2"/>
          <p:cNvSpPr/>
          <p:nvPr/>
        </p:nvSpPr>
        <p:spPr>
          <a:xfrm>
            <a:off x="4010000" y="1470000"/>
            <a:ext cx="320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5" name="FlowBox 3"/>
          <p:cNvSpPr/>
          <p:nvPr/>
        </p:nvSpPr>
        <p:spPr>
          <a:xfrm>
            <a:off x="4360000" y="1150000"/>
            <a:ext cx="1550000" cy="820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Trace</a:t>
            </a:r>
          </a:p>
        </p:txBody>
      </p:sp>
      <p:sp>
        <p:nvSpPr>
          <p:cNvPr id="506" name="FlowArrow 3"/>
          <p:cNvSpPr/>
          <p:nvPr/>
        </p:nvSpPr>
        <p:spPr>
          <a:xfrm>
            <a:off x="5940000" y="1470000"/>
            <a:ext cx="320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7" name="FlowBox 4"/>
          <p:cNvSpPr/>
          <p:nvPr/>
        </p:nvSpPr>
        <p:spPr>
          <a:xfrm>
            <a:off x="6290000" y="1150000"/>
            <a:ext cx="1550000" cy="820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Cluster</a:t>
            </a:r>
          </a:p>
        </p:txBody>
      </p:sp>
      <p:sp>
        <p:nvSpPr>
          <p:cNvPr id="508" name="FlowArrow 4"/>
          <p:cNvSpPr/>
          <p:nvPr/>
        </p:nvSpPr>
        <p:spPr>
          <a:xfrm>
            <a:off x="7870000" y="1470000"/>
            <a:ext cx="320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9" name="FlowBox 5"/>
          <p:cNvSpPr/>
          <p:nvPr/>
        </p:nvSpPr>
        <p:spPr>
          <a:xfrm>
            <a:off x="8220000" y="1150000"/>
            <a:ext cx="1550000" cy="820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Score</a:t>
            </a:r>
          </a:p>
        </p:txBody>
      </p:sp>
      <p:sp>
        <p:nvSpPr>
          <p:cNvPr id="510" name="FlowArrow 5"/>
          <p:cNvSpPr/>
          <p:nvPr/>
        </p:nvSpPr>
        <p:spPr>
          <a:xfrm>
            <a:off x="9800000" y="1470000"/>
            <a:ext cx="320000" cy="18000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1" name="FlowBox 6"/>
          <p:cNvSpPr/>
          <p:nvPr/>
        </p:nvSpPr>
        <p:spPr>
          <a:xfrm>
            <a:off x="10150000" y="1150000"/>
            <a:ext cx="1550000" cy="820000"/>
          </a:xfrm>
          <a:prstGeom prst="roundRect">
            <a:avLst>
              <a:gd name="adj" fmla="val 12000"/>
            </a:avLst>
          </a:prstGeom>
          <a:solidFill>
            <a:srgbClr val="1F497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Case Report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84804"/>
            <a:ext cx="10617026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cs typeface="Times New Roman"/>
              </a:rPr>
              <a:t>Technology stack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 err="1">
                <a:latin typeface="Times New Roman"/>
                <a:ea typeface="ＭＳ Ｐゴシック"/>
                <a:cs typeface="Times New Roman"/>
              </a:rPr>
              <a:t>FastAPI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 — asynchronous backend for concurrent blockchain/API calls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Neo4j — transaction graph database for fast multi-hop traversal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Multi-chain ingestion: Bitcoin Core, </a:t>
            </a:r>
            <a:r>
              <a:rPr lang="en-US" sz="2000" err="1">
                <a:latin typeface="Times New Roman"/>
                <a:ea typeface="ＭＳ Ｐゴシック"/>
                <a:cs typeface="Times New Roman"/>
              </a:rPr>
              <a:t>Etherscan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, </a:t>
            </a:r>
            <a:r>
              <a:rPr lang="en-US" sz="2000" err="1">
                <a:latin typeface="Times New Roman"/>
                <a:ea typeface="ＭＳ Ｐゴシック"/>
                <a:cs typeface="Times New Roman"/>
              </a:rPr>
              <a:t>TronGrid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 (BTC, ETH, USDT-TRC20)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 err="1">
                <a:latin typeface="Times New Roman"/>
                <a:ea typeface="ＭＳ Ｐゴシック"/>
                <a:cs typeface="Times New Roman"/>
              </a:rPr>
              <a:t>GraphSAGE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 — graph neural network for wallet/exchange attribution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React investigator dashboard · PostgreSQL for case metadata &amp; evidence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/>
                <a:cs typeface="Times New Roman"/>
              </a:rPr>
              <a:t>Methodology &amp; pipeline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Wallets as nodes, transfers as edges; common-input-ownership &amp; peel-chain heuristics group linked wallets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Exchange Attribution Engine: unknown wallet → features → </a:t>
            </a:r>
            <a:r>
              <a:rPr lang="en-US" sz="2000" err="1">
                <a:latin typeface="Times New Roman"/>
                <a:ea typeface="ＭＳ Ｐゴシック"/>
                <a:cs typeface="Times New Roman"/>
              </a:rPr>
              <a:t>GraphSAGE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 scoring → confidence-ranked VASP match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Key outputs: risk score, fund-flow graph, suspicious indicators, likely exchange/VASP, evidence-backed report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en-US" dirty="0" err="1"/>
              <a:t>gridx</a:t>
            </a:r>
            <a:r>
              <a:rPr lang="en-US" dirty="0"/>
              <a:t>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9765" y="1103599"/>
            <a:ext cx="9802834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>
                <a:latin typeface="Times New Roman"/>
                <a:ea typeface="ＭＳ Ｐゴシック"/>
                <a:cs typeface="Times New Roman"/>
              </a:rPr>
              <a:t>Why it is feasible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Built on public blockchain data, APIs and open-source tools — low infrastructure cost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Realistic pilot scope: Bitcoin + Ethereum + USDT-TRC20 before expanding to more chains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Fits directly into the NCRP/I4C reporting workflow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Demonstrable as a software prototype, no special hardware needed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>
                <a:latin typeface="Times New Roman"/>
                <a:ea typeface="ＭＳ Ｐゴシック"/>
                <a:cs typeface="Times New Roman"/>
              </a:rPr>
              <a:t>Key challenges &amp; mitigation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Bridges/privacy coins break the trace → show trace limits, return strongest observable path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Offshore/new exchanges lack public data → confidence-ranked match, route hard cases for further probe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High transaction volume → hop limits, targeted traversal, caching, sharding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Exchange addresses change → living fingerprint dictionary updated from confirmed cases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AI output is decision support, not proof — VASP match shown as likely/probable unless confirmed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en-US" dirty="0" err="1"/>
              <a:t>gridx</a:t>
            </a:r>
            <a:r>
              <a:rPr lang="en-US" dirty="0"/>
              <a:t>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68941"/>
            <a:ext cx="1141034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 b="1">
                <a:latin typeface="Times New Roman"/>
                <a:ea typeface="ＭＳ Ｐゴシック"/>
                <a:cs typeface="Times New Roman"/>
              </a:rPr>
              <a:t>Target users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Cybercrime investigators · LEAs · I4C/NCRP teams · financial-crime &amp; digital-forensics units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b="1">
                <a:latin typeface="Times New Roman"/>
                <a:ea typeface="ＭＳ Ｐゴシック"/>
                <a:cs typeface="Times New Roman"/>
              </a:rPr>
              <a:t>Impact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Time compression: days/weeks of manual work → minutes for supported cases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Higher freeze opportunity — faster identification improves chance of reaching funds before withdrawal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Faster investigation for victims; less repetitive manual analysis for officers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Standardized, scalable, exchange-agnostic workflow that improves as confirmed cases accumulate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b="1">
                <a:latin typeface="Times New Roman"/>
                <a:ea typeface="ＭＳ Ｐゴシック"/>
                <a:cs typeface="Times New Roman"/>
              </a:rPr>
              <a:t>Before vs after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Before: Complaint → manual searching → many wallets → separate attribution → report writing</a:t>
            </a:r>
          </a:p>
          <a:p>
            <a:pPr marL="742950" indent="-285750" algn="just">
              <a:buFont typeface="Arial" pitchFamily="34" charset="0"/>
              <a:buChar char="–"/>
            </a:pPr>
            <a:r>
              <a:rPr lang="en-US" sz="2000">
                <a:latin typeface="Times New Roman"/>
                <a:ea typeface="ＭＳ Ｐゴシック"/>
                <a:cs typeface="Times New Roman"/>
              </a:rPr>
              <a:t>After: Complaint/NCRP → </a:t>
            </a:r>
            <a:r>
              <a:rPr lang="en-US" sz="2000" err="1">
                <a:latin typeface="Times New Roman"/>
                <a:ea typeface="ＭＳ Ｐゴシック"/>
                <a:cs typeface="Times New Roman"/>
              </a:rPr>
              <a:t>TraceChain</a:t>
            </a:r>
            <a:r>
              <a:rPr lang="en-US" sz="2000">
                <a:latin typeface="Times New Roman"/>
                <a:ea typeface="ＭＳ Ｐゴシック"/>
                <a:cs typeface="Times New Roman"/>
              </a:rPr>
              <a:t> → tracing + attribution → evidence + risk + VASP lead → LEA report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en-US" dirty="0" err="1"/>
              <a:t>gridx</a:t>
            </a:r>
            <a:r>
              <a:rPr lang="en-US" dirty="0"/>
              <a:t>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7764" y="1615728"/>
            <a:ext cx="11399903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Chainalysis — Crypto Crime Report: industry research on fraud &amp; laundering flows through exchanges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I4C / NCRP — official Indian cybercrime/fraud reporting statistics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Meiklejohn et al. — “A Fistful of Bitcoins”: wallet-clustering heuristics (common-input-ownership)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FATF — VASP Red Flag Indicators for suspicious virtual-asset activity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Elliptic — Typologies / blockchain intelligence research on laundering patterns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FinCEN — Convertible Virtual Currency Advisory on virtual-currency money-laundering risks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err="1">
                <a:latin typeface="Times New Roman"/>
                <a:ea typeface="ＭＳ Ｐゴシック"/>
                <a:cs typeface="Times New Roman"/>
              </a:rPr>
              <a:t>Möser</a:t>
            </a:r>
            <a:r>
              <a:rPr lang="en-US" sz="2200">
                <a:latin typeface="Times New Roman"/>
                <a:ea typeface="ＭＳ Ｐゴシック"/>
                <a:cs typeface="Times New Roman"/>
              </a:rPr>
              <a:t>, Böhme &amp; Breuker — research on Bitcoin money-laundering tools and mixers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Nakamoto — Bitcoin: A Peer-to-Peer Electronic Cash System (foundational ledger model)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>
                <a:latin typeface="Times New Roman"/>
                <a:ea typeface="ＭＳ Ｐゴシック"/>
                <a:cs typeface="Times New Roman"/>
              </a:rPr>
              <a:t>Technical docs used: Ethereum/EVM, </a:t>
            </a:r>
            <a:r>
              <a:rPr lang="en-US" sz="2200" err="1">
                <a:latin typeface="Times New Roman"/>
                <a:ea typeface="ＭＳ Ｐゴシック"/>
                <a:cs typeface="Times New Roman"/>
              </a:rPr>
              <a:t>Etherscan</a:t>
            </a:r>
            <a:r>
              <a:rPr lang="en-US" sz="2200">
                <a:latin typeface="Times New Roman"/>
                <a:ea typeface="ＭＳ Ｐゴシック"/>
                <a:cs typeface="Times New Roman"/>
              </a:rPr>
              <a:t> API, Bitcoin Core, </a:t>
            </a:r>
            <a:r>
              <a:rPr lang="en-US" sz="2200" err="1">
                <a:latin typeface="Times New Roman"/>
                <a:ea typeface="ＭＳ Ｐゴシック"/>
                <a:cs typeface="Times New Roman"/>
              </a:rPr>
              <a:t>TronGrid</a:t>
            </a:r>
            <a:r>
              <a:rPr lang="en-US" sz="2200">
                <a:latin typeface="Times New Roman"/>
                <a:ea typeface="ＭＳ Ｐゴシック"/>
                <a:cs typeface="Times New Roman"/>
              </a:rPr>
              <a:t>/TRON, Neo4j, </a:t>
            </a:r>
            <a:r>
              <a:rPr lang="en-US" sz="2200" err="1">
                <a:latin typeface="Times New Roman"/>
                <a:ea typeface="ＭＳ Ｐゴシック"/>
                <a:cs typeface="Times New Roman"/>
              </a:rPr>
              <a:t>GraphSAGE</a:t>
            </a:r>
            <a:endParaRPr lang="en-US" sz="220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  <a:r>
              <a:rPr lang="en-US" dirty="0" err="1"/>
              <a:t>gridx</a:t>
            </a:r>
            <a:r>
              <a:rPr lang="en-US" dirty="0"/>
              <a:t>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7546</TotalTime>
  <Words>721</Words>
  <Application>Microsoft Office PowerPoint</Application>
  <PresentationFormat>Widescreen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Priya Gowd</cp:lastModifiedBy>
  <cp:revision>151</cp:revision>
  <dcterms:created xsi:type="dcterms:W3CDTF">2013-12-12T18:46:50Z</dcterms:created>
  <dcterms:modified xsi:type="dcterms:W3CDTF">2026-08-30T12:39:55Z</dcterms:modified>
  <cp:category/>
</cp:coreProperties>
</file>